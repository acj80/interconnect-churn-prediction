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de este proyecto fue desarrollar una solución de Machine Learning para anticipar la cancelación de clientes de Interconnect.,El problema se planteó como una clasificación binaria: identificar qué clientes presentan mayor probabilidad de churn.,El proyecto no termina en el entrenamiento del modelo: también incluye API, dashboard, monitoreo de drift y automatización con Airflow.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dataset final contiene 7,043 clientes e integra información contractual, demográfica, de Internet, telefonía y facturación.,Separé 80% para entrenamiento y 20% para prueba mediante estratificación.,La comparación de modelos se realizó con validación cruzada estratificada de cinco folds y el test permaneció aislado hasta la evaluación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Partí de un DummyClassifier como baseline y comparé regresión logística, Random Forest, Gradient Boosting y CatBoost.,CatBoost mostró el mejor rendimiento y la configuración seleccionada fue CatBoostClassifier con One-Hot Encoding.,El AUC-ROC promedio de validación cruzada fue 0.8506.,También controlé leakage excluyendo variables que dependen de información futura o del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test, el modelo obtuvo AUC-ROC 0.8440 y accuracy 0.8077.,Para la clase churn: precision 0.67, recall 0.53 y F1 0.60.,La matriz muestra 200 churn detectados correctamente y 174 no detectados.,El threshold oficial es 0.50, pero una optimización económica del umbral podría mejorar la estrategia de retención.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variable más importante fue Type, seguida por TotalCharges e InternetService.,La interpretación se complementó con SHAP.,Estas importancias son predictivas, no causales; cualquier acción comercial debe validarse con experimentación.,El score puede utilizarse para segmentar y priorizar campañas de retención.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Serialicé el pipeline completo para garantizar que preprocessing e inferencia sean consistentes.,La API REST con FastAPI valida las 23 variables con Pydantic y expone endpoints de health, model-info y predict.,El dashboard Streamlit consume la API, manteniendo separadas las capas de modelo, servicio e interfaz.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Implementé monitoreo de data drift con Population Stability Index.,El reference profile se construye exclusivamente con X_train.,En el batch de validación las siete variables permanecieron estables; en una simulación controlada Type y MonthlyCharges mostraron drift significativo.,Finalmente automaticé el pipeline con un DAG diario de Apache Airflow y validé la ejecución end-to-end.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final mantiene un rendimiento consistente entre validación y test, con AUC-ROC cercano a 0.84.,El proyecto evoluciona desde análisis y modelado hacia una solución end-to-end con API, dashboard, testing, drift monitoring y Airflow.,Los siguientes pasos serían optimizar el threshold con costos de negocio, incorporar datos temporales, performance monitoring y automatizar retraining y deployment.,El objetivo final es convertir la probabilidad de churn en información accionable para priorizar estrategias de retención.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1A6A6"/>
          </a:solidFill>
          <a:ln w="12700">
            <a:solidFill>
              <a:srgbClr val="11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INTERCONNECT · CUSTOMER CHURN PREDICTION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235440" y="647395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Alan Calderón Jiménez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A6A6"/>
          </a:solidFill>
          <a:ln w="12700">
            <a:solidFill>
              <a:srgbClr val="11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65836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11A6A6"/>
          </a:solidFill>
          <a:ln w="12700">
            <a:solidFill>
              <a:srgbClr val="11A6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2376" y="726948"/>
            <a:ext cx="2167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END-TO-END MACHINE LEARNING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Interconnect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02996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FE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Churn Prediction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13232" y="28529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Predicción, deployment, monitoreo y automatización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3232" y="3913632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3913632"/>
            <a:ext cx="64008" cy="1005840"/>
          </a:xfrm>
          <a:prstGeom prst="rect">
            <a:avLst/>
          </a:prstGeom>
          <a:solidFill>
            <a:srgbClr val="11A6A6"/>
          </a:solidFill>
          <a:ln w="12700">
            <a:solidFill>
              <a:srgbClr val="11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40599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</a:rPr>
              <a:t>0.8440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96112" y="45171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Test AUC-ROC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82112" y="3913632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3913632"/>
            <a:ext cx="64008" cy="10058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40599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</a:rPr>
              <a:t>0.8077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3364992" y="45171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Accuracy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50992" y="3913632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50992" y="3913632"/>
            <a:ext cx="64008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40599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</a:rPr>
              <a:t>29 passed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5833872" y="45171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Tests automatizados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53218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B9CC"/>
                </a:solidFill>
              </a:rPr>
              <a:t>Python · CatBoost · FastAPI · Streamlit · Apache Airflow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5879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Alan Calderón Jiménez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61996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B0C5"/>
                </a:solidFill>
              </a:rPr>
              <a:t>Ciencia de Datos · Machine Learning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de negocio y datos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</a:rPr>
              <a:t>De datos operativos a una señal accionable de riesgo de cancelación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749040" cy="42519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Objetivo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31546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C3A47"/>
                </a:solidFill>
              </a:rPr>
              <a:t>Identificar clientes con mayor probabilidad de churn para priorizar acciones de retención y usar mejor los recursos comerciales.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3319272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3387852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CLASIFICACIÓN BINARIA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6112" y="382219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Churn = 1  →  canceló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Churn = 0  →  permanece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4892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A6A6"/>
                </a:solidFill>
              </a:rPr>
              <a:t>Métrica principal: AUC-ROC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325880"/>
            <a:ext cx="64008" cy="1005840"/>
          </a:xfrm>
          <a:prstGeom prst="rect">
            <a:avLst/>
          </a:prstGeom>
          <a:solidFill>
            <a:srgbClr val="11A6A6"/>
          </a:solidFill>
          <a:ln w="12700">
            <a:solidFill>
              <a:srgbClr val="11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4721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</a:rPr>
              <a:t>7,043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4937760" y="192938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Clientes analizados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03720" y="132588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1325880"/>
            <a:ext cx="64008" cy="10058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14721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</a:rPr>
              <a:t>5,634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086600" y="192938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Training set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52560" y="132588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1325880"/>
            <a:ext cx="64008" cy="100584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14721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</a:rPr>
              <a:t>1,409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9235440" y="192938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Test set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633472"/>
            <a:ext cx="6263640" cy="29443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907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3"/>
                </a:solidFill>
              </a:rPr>
              <a:t>Fuentes integradas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029200" y="3410712"/>
            <a:ext cx="210312" cy="210312"/>
          </a:xfrm>
          <a:prstGeom prst="ellipse">
            <a:avLst/>
          </a:prstGeom>
          <a:solidFill>
            <a:srgbClr val="11A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33832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Contratos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19672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</a:rPr>
              <a:t>Tipo de contrato y fechas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09560" y="3410712"/>
            <a:ext cx="210312" cy="210312"/>
          </a:xfrm>
          <a:prstGeom prst="ellipse">
            <a:avLst/>
          </a:prstGeom>
          <a:solidFill>
            <a:srgbClr val="11A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33832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Información personal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400032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</a:rPr>
              <a:t>Género, dependientes, senior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4050792"/>
            <a:ext cx="210312" cy="21031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40233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Internet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19672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</a:rPr>
              <a:t>Servicio y add-ons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909560" y="4050792"/>
            <a:ext cx="210312" cy="21031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0" y="40233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Telefonía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400032" y="4023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</a:rPr>
              <a:t>Líneas y disponibilidad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0" y="4690872"/>
            <a:ext cx="210312" cy="21031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240" y="46634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Facturación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19672" y="4663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</a:rPr>
              <a:t>Cargos mensuales y acumulados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909560" y="4690872"/>
            <a:ext cx="210312" cy="21031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0" y="466344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</a:rPr>
              <a:t>Pago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400032" y="4663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</a:rPr>
              <a:t>Método y paperless billing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0" y="51937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A6A6"/>
                </a:solidFill>
              </a:rPr>
              <a:t>Validación: Stratified 5-Fold Cross Validation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Selección del modelo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</a:rPr>
              <a:t>Comparación consistente, tuning y control de leakage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6576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27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Modelos evaluados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148840"/>
            <a:ext cx="3017520" cy="384048"/>
          </a:xfrm>
          <a:prstGeom prst="roundRect">
            <a:avLst>
              <a:gd name="adj" fmla="val 11905"/>
            </a:avLst>
          </a:prstGeom>
          <a:solidFill>
            <a:srgbClr val="F3F6F9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2219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47"/>
                </a:solidFill>
              </a:rPr>
              <a:t>DummyClassifier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2715768"/>
            <a:ext cx="3017520" cy="384048"/>
          </a:xfrm>
          <a:prstGeom prst="roundRect">
            <a:avLst>
              <a:gd name="adj" fmla="val 11905"/>
            </a:avLst>
          </a:prstGeom>
          <a:solidFill>
            <a:srgbClr val="F3F6F9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7889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47"/>
                </a:solidFill>
              </a:rPr>
              <a:t>Logistic Regression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3282696"/>
            <a:ext cx="3017520" cy="384048"/>
          </a:xfrm>
          <a:prstGeom prst="roundRect">
            <a:avLst>
              <a:gd name="adj" fmla="val 11905"/>
            </a:avLst>
          </a:prstGeom>
          <a:solidFill>
            <a:srgbClr val="F3F6F9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3558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47"/>
                </a:solidFill>
              </a:rPr>
              <a:t>Random Forest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3849624"/>
            <a:ext cx="3017520" cy="384048"/>
          </a:xfrm>
          <a:prstGeom prst="roundRect">
            <a:avLst>
              <a:gd name="adj" fmla="val 11905"/>
            </a:avLst>
          </a:prstGeom>
          <a:solidFill>
            <a:srgbClr val="F3F6F9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9227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47"/>
                </a:solidFill>
              </a:rPr>
              <a:t>Gradient Boosting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4416552"/>
            <a:ext cx="3017520" cy="384048"/>
          </a:xfrm>
          <a:prstGeom prst="roundRect">
            <a:avLst>
              <a:gd name="adj" fmla="val 11905"/>
            </a:avLst>
          </a:prstGeom>
          <a:solidFill>
            <a:srgbClr val="E8F7F7"/>
          </a:solidFill>
          <a:ln w="12700">
            <a:solidFill>
              <a:srgbClr val="11A6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4897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A6A6"/>
                </a:solidFill>
              </a:rPr>
              <a:t>CatBoost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17720" y="1325880"/>
            <a:ext cx="64008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6276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Modelo final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20574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A6A6"/>
                </a:solidFill>
              </a:rPr>
              <a:t>CatBoostClassifier + One-Hot Encoding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4937760" y="26974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2697480"/>
            <a:ext cx="64008" cy="1005840"/>
          </a:xfrm>
          <a:prstGeom prst="rect">
            <a:avLst/>
          </a:prstGeom>
          <a:solidFill>
            <a:srgbClr val="11A6A6"/>
          </a:solidFill>
          <a:ln w="12700">
            <a:solidFill>
              <a:srgbClr val="11A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28437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</a:rPr>
              <a:t>0.8506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120640" y="330098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CV AUC-ROC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50608" y="269748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50608" y="2697480"/>
            <a:ext cx="64008" cy="10058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33488" y="28437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</a:rPr>
              <a:t>4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7333488" y="330098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Depth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860536" y="269748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60536" y="2697480"/>
            <a:ext cx="64008" cy="100584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43416" y="28437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</a:rPr>
              <a:t>200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9043416" y="330098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Iterations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83480" y="39502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learning_rate = 0.03   ·   l2_leaf_reg = 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83480" y="4407408"/>
            <a:ext cx="5349240" cy="0"/>
          </a:xfrm>
          <a:prstGeom prst="line">
            <a:avLst/>
          </a:prstGeom>
          <a:noFill/>
          <a:ln w="15240">
            <a:solidFill>
              <a:srgbClr val="DCE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46451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550"/>
                </a:solidFill>
              </a:rPr>
              <a:t>Prevención de leakage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76288" y="45902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</a:rPr>
              <a:t>Se excluyeron target, IDs, fechas futuras y HistoricalTenure del conjunto de predictores.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83480" y="524865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80ED"/>
                </a:solidFill>
              </a:rPr>
              <a:t>Pipeline final: preprocessing + modelo serializados juntos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finales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</a:rPr>
              <a:t>Buen poder discriminativo y margen de mejora en recall de churn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64008" cy="1005840"/>
          </a:xfrm>
          <a:prstGeom prst="rect">
            <a:avLst/>
          </a:prstGeom>
          <a:solidFill>
            <a:srgbClr val="11A6A6"/>
          </a:solidFill>
          <a:ln w="12700">
            <a:solidFill>
              <a:srgbClr val="11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721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</a:rPr>
              <a:t>0.8440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22960" y="19293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Test AUC-ROC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26080" y="132588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1325880"/>
            <a:ext cx="64008" cy="10058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4721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</a:rPr>
              <a:t>0.8077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108960" y="19293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Accuracy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12080" y="132588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1325880"/>
            <a:ext cx="64008" cy="100584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4721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</a:rPr>
              <a:t>0.67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5394960" y="19293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Precision Churn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98080" y="132588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0" y="1325880"/>
            <a:ext cx="64008" cy="1005840"/>
          </a:xfrm>
          <a:prstGeom prst="rect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14721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</a:rPr>
              <a:t>0.53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680960" y="19293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Recall Churn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784080" y="132588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84080" y="1325880"/>
            <a:ext cx="64008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0" y="14721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</a:rPr>
              <a:t>0.60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9966960" y="19293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F1 Churn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2697480"/>
            <a:ext cx="49834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Matriz de confusión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350008" y="3246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5"/>
                </a:solidFill>
              </a:rPr>
              <a:t>Predicción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92808" y="34747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No churn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081528" y="34747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Churn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68680" y="384048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Real No churn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68680" y="452628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Real Churn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892808" y="3657600"/>
            <a:ext cx="1188720" cy="685800"/>
          </a:xfrm>
          <a:prstGeom prst="rect">
            <a:avLst/>
          </a:prstGeom>
          <a:solidFill>
            <a:srgbClr val="DFF5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92808" y="38221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938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3081528" y="3657600"/>
            <a:ext cx="1188720" cy="685800"/>
          </a:xfrm>
          <a:prstGeom prst="rect">
            <a:avLst/>
          </a:prstGeom>
          <a:solidFill>
            <a:srgbClr val="FBEAE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81528" y="38221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97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892808" y="4343400"/>
            <a:ext cx="1188720" cy="685800"/>
          </a:xfrm>
          <a:prstGeom prst="rect">
            <a:avLst/>
          </a:prstGeom>
          <a:solidFill>
            <a:srgbClr val="FBEAE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92808" y="45079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174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3081528" y="4343400"/>
            <a:ext cx="1188720" cy="685800"/>
          </a:xfrm>
          <a:prstGeom prst="rect">
            <a:avLst/>
          </a:prstGeom>
          <a:solidFill>
            <a:srgbClr val="D7F1F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81528" y="45079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200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5897880" y="2697480"/>
            <a:ext cx="512064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99632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Lectura de negocio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217920" y="349300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A6A6"/>
                </a:solidFill>
              </a:rPr>
              <a:t>200</a:t>
            </a:r>
            <a:endParaRPr lang="en-US" sz="2700" dirty="0"/>
          </a:p>
        </p:txBody>
      </p:sp>
      <p:sp>
        <p:nvSpPr>
          <p:cNvPr id="42" name="Text 40"/>
          <p:cNvSpPr/>
          <p:nvPr/>
        </p:nvSpPr>
        <p:spPr>
          <a:xfrm>
            <a:off x="713232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A47"/>
                </a:solidFill>
              </a:rPr>
              <a:t>clientes churn detectados correctamente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17920" y="41605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64550"/>
                </a:solidFill>
              </a:rPr>
              <a:t>174</a:t>
            </a:r>
            <a:endParaRPr lang="en-US" sz="2700" dirty="0"/>
          </a:p>
        </p:txBody>
      </p:sp>
      <p:sp>
        <p:nvSpPr>
          <p:cNvPr id="44" name="Text 42"/>
          <p:cNvSpPr/>
          <p:nvPr/>
        </p:nvSpPr>
        <p:spPr>
          <a:xfrm>
            <a:off x="7132320" y="42336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A47"/>
                </a:solidFill>
              </a:rPr>
              <a:t>clientes churn no detectados con threshold 0.50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17920" y="4910328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F80ED"/>
                </a:solidFill>
              </a:rPr>
              <a:t>El score de probabilidad puede utilizarse para priorizar campañas incluso sin modificar el modelo.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Interpretabilidad y aplicación de negocio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</a:rPr>
              <a:t>Qué variables pesan más y cómo convertir el score en acción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852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276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Principales variables predictivas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1579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47"/>
                </a:solidFill>
              </a:rPr>
              <a:t>Type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331720" y="2148840"/>
            <a:ext cx="3291840" cy="219456"/>
          </a:xfrm>
          <a:prstGeom prst="roundRect">
            <a:avLst>
              <a:gd name="adj" fmla="val 12500"/>
            </a:avLst>
          </a:prstGeom>
          <a:solidFill>
            <a:srgbClr val="11A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21396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785"/>
                </a:solidFill>
              </a:rPr>
              <a:t>28.12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6151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47"/>
                </a:solidFill>
              </a:rPr>
              <a:t>TotalCharges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331720" y="2606040"/>
            <a:ext cx="2519218" cy="219456"/>
          </a:xfrm>
          <a:prstGeom prst="roundRect">
            <a:avLst>
              <a:gd name="adj" fmla="val 12500"/>
            </a:avLst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25968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785"/>
                </a:solidFill>
              </a:rPr>
              <a:t>21.52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0723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47"/>
                </a:solidFill>
              </a:rPr>
              <a:t>InternetService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331720" y="3063240"/>
            <a:ext cx="1644749" cy="219456"/>
          </a:xfrm>
          <a:prstGeom prst="roundRect">
            <a:avLst>
              <a:gd name="adj" fmla="val 12500"/>
            </a:avLst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30540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785"/>
                </a:solidFill>
              </a:rPr>
              <a:t>14.05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35295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47"/>
                </a:solidFill>
              </a:rPr>
              <a:t>MonthlyCharges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331720" y="3520440"/>
            <a:ext cx="803059" cy="219456"/>
          </a:xfrm>
          <a:prstGeom prst="roundRect">
            <a:avLst>
              <a:gd name="adj" fmla="val 12500"/>
            </a:avLst>
          </a:prstGeom>
          <a:solidFill>
            <a:srgbClr val="F299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35112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785"/>
                </a:solidFill>
              </a:rPr>
              <a:t>6.86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9867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47"/>
                </a:solidFill>
              </a:rPr>
              <a:t>OnlineSecurity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331720" y="3977640"/>
            <a:ext cx="525617" cy="219456"/>
          </a:xfrm>
          <a:prstGeom prst="roundRect">
            <a:avLst>
              <a:gd name="adj" fmla="val 12500"/>
            </a:avLst>
          </a:prstGeom>
          <a:solidFill>
            <a:srgbClr val="F299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39684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785"/>
                </a:solidFill>
              </a:rPr>
              <a:t>4.49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4439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47"/>
                </a:solidFill>
              </a:rPr>
              <a:t>TechSupport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331720" y="4434840"/>
            <a:ext cx="501034" cy="219456"/>
          </a:xfrm>
          <a:prstGeom prst="roundRect">
            <a:avLst>
              <a:gd name="adj" fmla="val 12500"/>
            </a:avLst>
          </a:prstGeom>
          <a:solidFill>
            <a:srgbClr val="F299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44256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785"/>
                </a:solidFill>
              </a:rPr>
              <a:t>4.28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490118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47"/>
                </a:solidFill>
              </a:rPr>
              <a:t>PaymentMethod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331720" y="4892040"/>
            <a:ext cx="496351" cy="219456"/>
          </a:xfrm>
          <a:prstGeom prst="roundRect">
            <a:avLst>
              <a:gd name="adj" fmla="val 12500"/>
            </a:avLst>
          </a:prstGeom>
          <a:solidFill>
            <a:srgbClr val="F299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488289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785"/>
                </a:solidFill>
              </a:rPr>
              <a:t>4.24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53766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A6A6"/>
                </a:solidFill>
              </a:rPr>
              <a:t>Feature importance + SHAP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720840" y="1325880"/>
            <a:ext cx="4297680" cy="45262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1627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Del score a una acción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086600" y="2212848"/>
            <a:ext cx="3246120" cy="502920"/>
          </a:xfrm>
          <a:prstGeom prst="roundRect">
            <a:avLst>
              <a:gd name="adj" fmla="val 12727"/>
            </a:avLst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235000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Probabilidad de churn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 rot="5400000">
            <a:off x="8394192" y="2743200"/>
            <a:ext cx="640080" cy="201168"/>
          </a:xfrm>
          <a:prstGeom prst="chevron">
            <a:avLst/>
          </a:prstGeom>
          <a:solidFill>
            <a:srgbClr val="B8C3CF"/>
          </a:solidFill>
          <a:ln w="12700">
            <a:solidFill>
              <a:srgbClr val="B8C3C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86600" y="2971800"/>
            <a:ext cx="3246120" cy="502920"/>
          </a:xfrm>
          <a:prstGeom prst="roundRect">
            <a:avLst>
              <a:gd name="adj" fmla="val 12727"/>
            </a:avLst>
          </a:prstGeom>
          <a:solidFill>
            <a:srgbClr val="11A6A6"/>
          </a:solidFill>
          <a:ln w="12700">
            <a:solidFill>
              <a:srgbClr val="11A6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310896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Nivel de riesgo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 rot="5400000">
            <a:off x="8394192" y="3502152"/>
            <a:ext cx="640080" cy="201168"/>
          </a:xfrm>
          <a:prstGeom prst="chevron">
            <a:avLst/>
          </a:prstGeom>
          <a:solidFill>
            <a:srgbClr val="B8C3CF"/>
          </a:solidFill>
          <a:ln w="12700">
            <a:solidFill>
              <a:srgbClr val="B8C3C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86600" y="3730752"/>
            <a:ext cx="3246120" cy="502920"/>
          </a:xfrm>
          <a:prstGeom prst="roundRect">
            <a:avLst>
              <a:gd name="adj" fmla="val 12727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386791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Prioridad comercial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 rot="5400000">
            <a:off x="8394192" y="4261104"/>
            <a:ext cx="640080" cy="201168"/>
          </a:xfrm>
          <a:prstGeom prst="chevron">
            <a:avLst/>
          </a:prstGeom>
          <a:solidFill>
            <a:srgbClr val="B8C3CF"/>
          </a:solidFill>
          <a:ln w="12700">
            <a:solidFill>
              <a:srgbClr val="B8C3C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86600" y="4489704"/>
            <a:ext cx="3246120" cy="502920"/>
          </a:xfrm>
          <a:prstGeom prst="roundRect">
            <a:avLst>
              <a:gd name="adj" fmla="val 1272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23760" y="462686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Acción de retención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086600" y="542239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64550"/>
                </a:solidFill>
              </a:rPr>
              <a:t>Importancia predictiva ≠ causalidad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Deployment: de modelo a aplicación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</a:rPr>
              <a:t>Separación de responsabilidades entre inferencia, validación y experiencia de usuario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EAF2F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76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80ED"/>
                </a:solidFill>
              </a:rPr>
              <a:t>Cliente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23 características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63240" y="201168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E8F7F7"/>
          </a:solidFill>
          <a:ln w="12700">
            <a:solidFill>
              <a:srgbClr val="11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21762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A6A6"/>
                </a:solidFill>
              </a:rPr>
              <a:t>FastAPI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200400" y="25603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REST + Pydantic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32120" y="201168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EEF2F6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21762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3"/>
                </a:solidFill>
              </a:rPr>
              <a:t>Pipeline ML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669280" y="25603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OHE + CatBoost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75320" y="201168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4E8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176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994A"/>
                </a:solidFill>
              </a:rPr>
              <a:t>Predicción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2480" y="2560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785"/>
                </a:solidFill>
              </a:rPr>
              <a:t>probabilidad + clase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834640" y="2331720"/>
            <a:ext cx="320040" cy="320040"/>
          </a:xfrm>
          <a:prstGeom prst="chevron">
            <a:avLst/>
          </a:prstGeom>
          <a:solidFill>
            <a:srgbClr val="AAB6C2"/>
          </a:solidFill>
          <a:ln w="12700">
            <a:solidFill>
              <a:srgbClr val="AAB6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57800" y="2331720"/>
            <a:ext cx="320040" cy="320040"/>
          </a:xfrm>
          <a:prstGeom prst="chevron">
            <a:avLst/>
          </a:prstGeom>
          <a:solidFill>
            <a:srgbClr val="AAB6C2"/>
          </a:solidFill>
          <a:ln w="12700">
            <a:solidFill>
              <a:srgbClr val="AAB6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1000" y="2331720"/>
            <a:ext cx="320040" cy="320040"/>
          </a:xfrm>
          <a:prstGeom prst="chevron">
            <a:avLst/>
          </a:prstGeom>
          <a:solidFill>
            <a:srgbClr val="AAB6C2"/>
          </a:solidFill>
          <a:ln w="12700">
            <a:solidFill>
              <a:srgbClr val="AAB6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3703320"/>
            <a:ext cx="4754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39684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A6A6"/>
                </a:solidFill>
              </a:rPr>
              <a:t>FastAPI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4434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</a:rPr>
              <a:t>/health   ·   /model-info   ·   /predict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828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</a:rPr>
              <a:t>Validación de tipos y consistencia de servicios con Pydantic.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3703320"/>
            <a:ext cx="4754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968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0ED"/>
                </a:solidFill>
              </a:rPr>
              <a:t>Streamlit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46520" y="441655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B1F33"/>
                </a:solidFill>
              </a:rPr>
              <a:t>Executive Overview · Performance · Monitoring · Prediction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6446520" y="48554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5"/>
                </a:solidFill>
              </a:rPr>
              <a:t>El dashboard consume la API; no carga el joblib directamente.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Monitoring y automatización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</a:rPr>
              <a:t>PSI para detectar cambios de distribución y Airflow para orquestar el proceso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276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Population Stability Index (PSI)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121408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E7F7ED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212848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7AE60"/>
                </a:solidFill>
              </a:rPr>
              <a:t>Stable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95728" y="22128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47"/>
                </a:solidFill>
              </a:rPr>
              <a:t>PSI &lt; 0.10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2670048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FFF4E8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761488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994A"/>
                </a:solidFill>
              </a:rPr>
              <a:t>Moderate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95728" y="27614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47"/>
                </a:solidFill>
              </a:rPr>
              <a:t>0.10 ≤ PSI &lt; 0.25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" y="3218688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FDECEE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310128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64550"/>
                </a:solidFill>
              </a:rPr>
              <a:t>Significant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95728" y="33101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47"/>
                </a:solidFill>
              </a:rPr>
              <a:t>PSI ≥ 0.25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393192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</a:rPr>
              <a:t>Validación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31596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7AE60"/>
                </a:solidFill>
              </a:rPr>
              <a:t>7 / 7 variables estables en el batch de validación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914400" y="4736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785"/>
                </a:solidFill>
              </a:rPr>
              <a:t>Simulación controlada: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87168" y="471830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D64550"/>
                </a:solidFill>
              </a:rPr>
              <a:t>Type  5.779   ·   MonthlyCharges  5.728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172200" y="1325880"/>
            <a:ext cx="48006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627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Apache Airflow 3.3.1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464040" y="1600200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11A6A6"/>
          </a:solidFill>
          <a:ln w="12700">
            <a:solidFill>
              <a:srgbClr val="11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0616" y="166878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@daily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12280" y="2240280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F3F6F9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67728" y="23591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F80ED"/>
                </a:solidFill>
              </a:rPr>
              <a:t>validate_monitoring_script</a:t>
            </a:r>
            <a:endParaRPr lang="en-US" sz="1170" dirty="0"/>
          </a:p>
        </p:txBody>
      </p:sp>
      <p:sp>
        <p:nvSpPr>
          <p:cNvPr id="25" name="Shape 23"/>
          <p:cNvSpPr/>
          <p:nvPr/>
        </p:nvSpPr>
        <p:spPr>
          <a:xfrm rot="5400000">
            <a:off x="8229600" y="2706624"/>
            <a:ext cx="640080" cy="164592"/>
          </a:xfrm>
          <a:prstGeom prst="chevron">
            <a:avLst/>
          </a:prstGeom>
          <a:solidFill>
            <a:srgbClr val="B6C0CA"/>
          </a:solidFill>
          <a:ln w="12700">
            <a:solidFill>
              <a:srgbClr val="B6C0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2916936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F3F6F9"/>
          </a:solidFill>
          <a:ln w="12700">
            <a:solidFill>
              <a:srgbClr val="11A6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67728" y="30358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1A6A6"/>
                </a:solidFill>
              </a:rPr>
              <a:t>run_drift_monitoring</a:t>
            </a:r>
            <a:endParaRPr lang="en-US" sz="1170" dirty="0"/>
          </a:p>
        </p:txBody>
      </p:sp>
      <p:sp>
        <p:nvSpPr>
          <p:cNvPr id="28" name="Shape 26"/>
          <p:cNvSpPr/>
          <p:nvPr/>
        </p:nvSpPr>
        <p:spPr>
          <a:xfrm rot="5400000">
            <a:off x="8229600" y="3383280"/>
            <a:ext cx="640080" cy="164592"/>
          </a:xfrm>
          <a:prstGeom prst="chevron">
            <a:avLst/>
          </a:prstGeom>
          <a:solidFill>
            <a:srgbClr val="B6C0CA"/>
          </a:solidFill>
          <a:ln w="12700">
            <a:solidFill>
              <a:srgbClr val="B6C0C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12280" y="3593592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F3F6F9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67728" y="37124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B1F33"/>
                </a:solidFill>
              </a:rPr>
              <a:t>run_monitoring.py</a:t>
            </a:r>
            <a:endParaRPr lang="en-US" sz="1170" dirty="0"/>
          </a:p>
        </p:txBody>
      </p:sp>
      <p:sp>
        <p:nvSpPr>
          <p:cNvPr id="31" name="Shape 29"/>
          <p:cNvSpPr/>
          <p:nvPr/>
        </p:nvSpPr>
        <p:spPr>
          <a:xfrm rot="5400000">
            <a:off x="8229600" y="4059936"/>
            <a:ext cx="640080" cy="164592"/>
          </a:xfrm>
          <a:prstGeom prst="chevron">
            <a:avLst/>
          </a:prstGeom>
          <a:solidFill>
            <a:srgbClr val="B6C0CA"/>
          </a:solidFill>
          <a:ln w="12700">
            <a:solidFill>
              <a:srgbClr val="B6C0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12280" y="4270248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FFF4E8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67728" y="43891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2994A"/>
                </a:solidFill>
              </a:rPr>
              <a:t>drift_report_latest.csv</a:t>
            </a:r>
            <a:endParaRPr lang="en-US" sz="1170" dirty="0"/>
          </a:p>
        </p:txBody>
      </p:sp>
      <p:sp>
        <p:nvSpPr>
          <p:cNvPr id="34" name="Text 32"/>
          <p:cNvSpPr/>
          <p:nvPr/>
        </p:nvSpPr>
        <p:spPr>
          <a:xfrm>
            <a:off x="6903720" y="52303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End-to-end DAG test: SUCCESS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10789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5"/>
                </a:solidFill>
              </a:rPr>
              <a:t>Un proyecto de churn que evoluciona de análisis a una arquitectura operativa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Resultado del modelo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A6A6"/>
                </a:solidFill>
              </a:rPr>
              <a:t>0.8506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60120" y="27614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</a:rPr>
              <a:t>CV AUC-ROC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80ED"/>
                </a:solidFill>
              </a:rPr>
              <a:t>0.8440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60120" y="37673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</a:rPr>
              <a:t>Test AUC-ROC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2519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</a:rPr>
              <a:t>0.8077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60120" y="4773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</a:rPr>
              <a:t>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63550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Solución end-to-end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83480" y="2267712"/>
            <a:ext cx="960120" cy="502920"/>
          </a:xfrm>
          <a:prstGeom prst="roundRect">
            <a:avLst>
              <a:gd name="adj" fmla="val 9091"/>
            </a:avLst>
          </a:prstGeom>
          <a:solidFill>
            <a:srgbClr val="0B1F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0056" y="2423160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ML Model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971032" y="2368296"/>
            <a:ext cx="201168" cy="246888"/>
          </a:xfrm>
          <a:prstGeom prst="chevron">
            <a:avLst/>
          </a:prstGeom>
          <a:solidFill>
            <a:srgbClr val="AAB6C2"/>
          </a:solidFill>
          <a:ln w="12700">
            <a:solidFill>
              <a:srgbClr val="AAB6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53912" y="2267712"/>
            <a:ext cx="960120" cy="502920"/>
          </a:xfrm>
          <a:prstGeom prst="roundRect">
            <a:avLst>
              <a:gd name="adj" fmla="val 9091"/>
            </a:avLst>
          </a:prstGeom>
          <a:solidFill>
            <a:srgbClr val="11A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2423160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FastAPI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141464" y="2368296"/>
            <a:ext cx="201168" cy="246888"/>
          </a:xfrm>
          <a:prstGeom prst="chevron">
            <a:avLst/>
          </a:prstGeom>
          <a:solidFill>
            <a:srgbClr val="AAB6C2"/>
          </a:solidFill>
          <a:ln w="12700">
            <a:solidFill>
              <a:srgbClr val="AAB6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24344" y="2267712"/>
            <a:ext cx="960120" cy="502920"/>
          </a:xfrm>
          <a:prstGeom prst="roundRect">
            <a:avLst>
              <a:gd name="adj" fmla="val 9091"/>
            </a:avLst>
          </a:prstGeom>
          <a:solidFill>
            <a:srgbClr val="2F80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2423160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Streamlit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8311896" y="2368296"/>
            <a:ext cx="201168" cy="246888"/>
          </a:xfrm>
          <a:prstGeom prst="chevron">
            <a:avLst/>
          </a:prstGeom>
          <a:solidFill>
            <a:srgbClr val="AAB6C2"/>
          </a:solidFill>
          <a:ln w="12700">
            <a:solidFill>
              <a:srgbClr val="AAB6C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94776" y="2267712"/>
            <a:ext cx="960120" cy="502920"/>
          </a:xfrm>
          <a:prstGeom prst="roundRect">
            <a:avLst>
              <a:gd name="adj" fmla="val 9091"/>
            </a:avLst>
          </a:prstGeom>
          <a:solidFill>
            <a:srgbClr val="F299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31352" y="2423160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Drift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9482328" y="2368296"/>
            <a:ext cx="201168" cy="246888"/>
          </a:xfrm>
          <a:prstGeom prst="chevron">
            <a:avLst/>
          </a:prstGeom>
          <a:solidFill>
            <a:srgbClr val="AAB6C2"/>
          </a:solidFill>
          <a:ln w="12700">
            <a:solidFill>
              <a:srgbClr val="AAB6C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65208" y="2267712"/>
            <a:ext cx="960120" cy="502920"/>
          </a:xfrm>
          <a:prstGeom prst="roundRect">
            <a:avLst>
              <a:gd name="adj" fmla="val 9091"/>
            </a:avLst>
          </a:prstGeom>
          <a:solidFill>
            <a:srgbClr val="27AE6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01784" y="2423160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Airflow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663440" y="3703320"/>
            <a:ext cx="63550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9867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Próximos pasos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001768" y="4517136"/>
            <a:ext cx="146304" cy="146304"/>
          </a:xfrm>
          <a:prstGeom prst="ellipse">
            <a:avLst/>
          </a:prstGeom>
          <a:solidFill>
            <a:srgbClr val="11A6A6"/>
          </a:solidFill>
          <a:ln w="12700">
            <a:solidFill>
              <a:srgbClr val="11A6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85232" y="448056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47"/>
                </a:solidFill>
              </a:rPr>
              <a:t>Optimización económica del threshold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01768" y="4828032"/>
            <a:ext cx="146304" cy="146304"/>
          </a:xfrm>
          <a:prstGeom prst="ellipse">
            <a:avLst/>
          </a:prstGeom>
          <a:solidFill>
            <a:srgbClr val="11A6A6"/>
          </a:solidFill>
          <a:ln w="12700">
            <a:solidFill>
              <a:srgbClr val="11A6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85232" y="4791456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47"/>
                </a:solidFill>
              </a:rPr>
              <a:t>Datos temporales y performance monitoring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01768" y="5138928"/>
            <a:ext cx="146304" cy="146304"/>
          </a:xfrm>
          <a:prstGeom prst="ellipse">
            <a:avLst/>
          </a:prstGeom>
          <a:solidFill>
            <a:srgbClr val="11A6A6"/>
          </a:solidFill>
          <a:ln w="12700">
            <a:solidFill>
              <a:srgbClr val="11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85232" y="510235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47"/>
                </a:solidFill>
              </a:rPr>
              <a:t>Retraining + model registry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01768" y="5449824"/>
            <a:ext cx="146304" cy="146304"/>
          </a:xfrm>
          <a:prstGeom prst="ellipse">
            <a:avLst/>
          </a:prstGeom>
          <a:solidFill>
            <a:srgbClr val="11A6A6"/>
          </a:solidFill>
          <a:ln w="12700">
            <a:solidFill>
              <a:srgbClr val="11A6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85232" y="541324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A47"/>
                </a:solidFill>
              </a:rPr>
              <a:t>Docker, CI/CD y despliegue cloud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77240" y="5989320"/>
            <a:ext cx="10469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A6A6"/>
                </a:solidFill>
              </a:rPr>
              <a:t>De una predicción a una herramienta accionable para retención.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Interconnect — Customer Churn Prediction</dc:title>
  <dc:subject>Interconnect — Customer Churn Prediction</dc:subject>
  <dc:creator>OpenAI</dc:creator>
  <cp:lastModifiedBy>OpenAI</cp:lastModifiedBy>
  <cp:revision>1</cp:revision>
  <dcterms:created xsi:type="dcterms:W3CDTF">2026-09-01T06:22:53Z</dcterms:created>
  <dcterms:modified xsi:type="dcterms:W3CDTF">2026-09-01T06:22:53Z</dcterms:modified>
</cp:coreProperties>
</file>